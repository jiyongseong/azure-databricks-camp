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228" y="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6824" y="927872"/>
            <a:ext cx="1737360" cy="1955800"/>
          </a:xfrm>
          <a:prstGeom prst="roundRect">
            <a:avLst/>
          </a:prstGeom>
          <a:solidFill>
            <a:srgbClr val="E5F5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>
                <a:solidFill>
                  <a:schemeClr val="tx1"/>
                </a:solidFill>
                <a:latin typeface="Calibri (본문)"/>
              </a:rPr>
              <a:t>Structured Streaming API</a:t>
            </a:r>
            <a:endParaRPr lang="en-US" dirty="0">
              <a:solidFill>
                <a:schemeClr val="tx1"/>
              </a:solidFill>
              <a:latin typeface="Calibri (본문)"/>
            </a:endParaRPr>
          </a:p>
          <a:p>
            <a:pPr algn="ctr"/>
            <a:r>
              <a:rPr lang="en-US" sz="1200" i="1" dirty="0">
                <a:solidFill>
                  <a:schemeClr val="tx1"/>
                </a:solidFill>
                <a:latin typeface="Calibri (본문)"/>
              </a:rPr>
              <a:t>Real-time data processing with </a:t>
            </a:r>
            <a:r>
              <a:rPr lang="en-US" sz="1200" i="1" dirty="0" err="1">
                <a:solidFill>
                  <a:schemeClr val="tx1"/>
                </a:solidFill>
                <a:latin typeface="Calibri (본문)"/>
              </a:rPr>
              <a:t>Dataframe</a:t>
            </a:r>
            <a:r>
              <a:rPr lang="en-US" sz="1200" i="1" dirty="0">
                <a:solidFill>
                  <a:schemeClr val="tx1"/>
                </a:solidFill>
                <a:latin typeface="Calibri (본문)"/>
              </a:rPr>
              <a:t> semantics</a:t>
            </a:r>
          </a:p>
          <a:p>
            <a:pPr algn="ctr"/>
            <a:endParaRPr dirty="0">
              <a:solidFill>
                <a:schemeClr val="tx1"/>
              </a:solidFill>
              <a:latin typeface="Calibri (본문)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875624" y="927872"/>
            <a:ext cx="1737360" cy="1955800"/>
          </a:xfrm>
          <a:prstGeom prst="roundRect">
            <a:avLst/>
          </a:prstGeom>
          <a:solidFill>
            <a:srgbClr val="E5F5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 err="1">
                <a:solidFill>
                  <a:schemeClr val="tx1"/>
                </a:solidFill>
                <a:latin typeface="Calibri (본문)"/>
              </a:rPr>
              <a:t>M</a:t>
            </a:r>
            <a:r>
              <a:rPr lang="en-US" dirty="0" err="1">
                <a:solidFill>
                  <a:schemeClr val="tx1"/>
                </a:solidFill>
                <a:latin typeface="Calibri (본문)"/>
              </a:rPr>
              <a:t>L</a:t>
            </a:r>
            <a:r>
              <a:rPr dirty="0" err="1">
                <a:solidFill>
                  <a:schemeClr val="tx1"/>
                </a:solidFill>
                <a:latin typeface="Calibri (본문)"/>
              </a:rPr>
              <a:t>lib</a:t>
            </a:r>
            <a:endParaRPr lang="en-US" dirty="0">
              <a:solidFill>
                <a:schemeClr val="tx1"/>
              </a:solidFill>
              <a:latin typeface="Calibri (본문)"/>
            </a:endParaRPr>
          </a:p>
          <a:p>
            <a:pPr algn="ctr"/>
            <a:r>
              <a:rPr lang="en-US" sz="1200" i="1" dirty="0">
                <a:solidFill>
                  <a:schemeClr val="tx1"/>
                </a:solidFill>
                <a:latin typeface="Calibri (본문)"/>
              </a:rPr>
              <a:t>Machine Learning Library</a:t>
            </a:r>
            <a:endParaRPr sz="1200" i="1" dirty="0">
              <a:solidFill>
                <a:schemeClr val="tx1"/>
              </a:solidFill>
              <a:latin typeface="Calibri (본문)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704424" y="927872"/>
            <a:ext cx="1737360" cy="1955800"/>
          </a:xfrm>
          <a:prstGeom prst="roundRect">
            <a:avLst/>
          </a:prstGeom>
          <a:solidFill>
            <a:srgbClr val="E5F5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>
                <a:solidFill>
                  <a:schemeClr val="tx1"/>
                </a:solidFill>
                <a:latin typeface="Calibri (본문)"/>
              </a:rPr>
              <a:t>Spark SQL</a:t>
            </a:r>
            <a:endParaRPr lang="en-US" dirty="0">
              <a:solidFill>
                <a:schemeClr val="tx1"/>
              </a:solidFill>
              <a:latin typeface="Calibri (본문)"/>
            </a:endParaRPr>
          </a:p>
          <a:p>
            <a:pPr algn="ctr"/>
            <a:r>
              <a:rPr lang="en-US" sz="1200" i="1" dirty="0">
                <a:solidFill>
                  <a:schemeClr val="tx1"/>
                </a:solidFill>
                <a:latin typeface="Calibri (본문)"/>
              </a:rPr>
              <a:t>SQL interface for structured data processing</a:t>
            </a:r>
            <a:endParaRPr sz="1200" i="1" dirty="0">
              <a:solidFill>
                <a:schemeClr val="tx1"/>
              </a:solidFill>
              <a:latin typeface="Calibri (본문)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533224" y="927872"/>
            <a:ext cx="1737360" cy="1955800"/>
          </a:xfrm>
          <a:prstGeom prst="roundRect">
            <a:avLst/>
          </a:prstGeom>
          <a:solidFill>
            <a:srgbClr val="E5F5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 err="1">
                <a:solidFill>
                  <a:schemeClr val="tx1"/>
                </a:solidFill>
                <a:latin typeface="Calibri (본문)"/>
              </a:rPr>
              <a:t>SparkR</a:t>
            </a:r>
            <a:r>
              <a:rPr lang="en-US" dirty="0">
                <a:solidFill>
                  <a:schemeClr val="tx1"/>
                </a:solidFill>
                <a:latin typeface="Calibri (본문)"/>
              </a:rPr>
              <a:t> API</a:t>
            </a:r>
          </a:p>
          <a:p>
            <a:pPr algn="ctr"/>
            <a:r>
              <a:rPr lang="en-US" sz="1200" i="1" dirty="0">
                <a:solidFill>
                  <a:schemeClr val="tx1"/>
                </a:solidFill>
                <a:latin typeface="Calibri (본문)"/>
              </a:rPr>
              <a:t>Lightweight frontend to use Spark from R</a:t>
            </a:r>
            <a:endParaRPr sz="1200" i="1" dirty="0">
              <a:solidFill>
                <a:schemeClr val="tx1"/>
              </a:solidFill>
              <a:latin typeface="Calibri (본문)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62024" y="927872"/>
            <a:ext cx="1737360" cy="1955800"/>
          </a:xfrm>
          <a:prstGeom prst="roundRect">
            <a:avLst/>
          </a:prstGeom>
          <a:solidFill>
            <a:srgbClr val="E5F5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 err="1">
                <a:solidFill>
                  <a:schemeClr val="tx1"/>
                </a:solidFill>
                <a:latin typeface="Calibri (본문)"/>
              </a:rPr>
              <a:t>GraphX</a:t>
            </a:r>
            <a:endParaRPr lang="en-US" dirty="0">
              <a:solidFill>
                <a:schemeClr val="tx1"/>
              </a:solidFill>
              <a:latin typeface="Calibri (본문)"/>
            </a:endParaRPr>
          </a:p>
          <a:p>
            <a:pPr algn="ctr"/>
            <a:r>
              <a:rPr lang="en-US" sz="1200" i="1" dirty="0">
                <a:solidFill>
                  <a:schemeClr val="tx1"/>
                </a:solidFill>
                <a:latin typeface="Calibri (본문)"/>
              </a:rPr>
              <a:t>Graph processing library</a:t>
            </a:r>
            <a:endParaRPr sz="1200" i="1" dirty="0">
              <a:solidFill>
                <a:schemeClr val="tx1"/>
              </a:solidFill>
              <a:latin typeface="Calibri (본문)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6824" y="3249432"/>
            <a:ext cx="7223760" cy="1097280"/>
          </a:xfrm>
          <a:prstGeom prst="roundRect">
            <a:avLst/>
          </a:prstGeom>
          <a:solidFill>
            <a:srgbClr val="E6F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 err="1">
                <a:solidFill>
                  <a:schemeClr val="tx1"/>
                </a:solidFill>
                <a:latin typeface="Calibri (본문)"/>
              </a:rPr>
              <a:t>DataFrame</a:t>
            </a:r>
            <a:r>
              <a:rPr dirty="0">
                <a:solidFill>
                  <a:schemeClr val="tx1"/>
                </a:solidFill>
                <a:latin typeface="Calibri (본문)"/>
              </a:rPr>
              <a:t> API</a:t>
            </a:r>
          </a:p>
          <a:p>
            <a:pPr algn="ctr"/>
            <a:r>
              <a:rPr sz="1200" i="1" dirty="0">
                <a:solidFill>
                  <a:schemeClr val="tx1"/>
                </a:solidFill>
                <a:latin typeface="Calibri (본문)"/>
              </a:rPr>
              <a:t>High-level API for structured data operations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824" y="4621032"/>
            <a:ext cx="9052560" cy="1188720"/>
          </a:xfrm>
          <a:prstGeom prst="roundRect">
            <a:avLst/>
          </a:prstGeom>
          <a:solidFill>
            <a:srgbClr val="CCE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chemeClr val="tx1"/>
                </a:solidFill>
                <a:latin typeface="Calibri (본문)"/>
              </a:rPr>
              <a:t>Spark Core (RDD API)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51E315-62B8-47A7-54D7-EE3BF5094276}"/>
              </a:ext>
            </a:extLst>
          </p:cNvPr>
          <p:cNvSpPr txBox="1"/>
          <p:nvPr/>
        </p:nvSpPr>
        <p:spPr>
          <a:xfrm>
            <a:off x="4168397" y="2346529"/>
            <a:ext cx="675217" cy="246221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r>
              <a:rPr lang="ko-KR" altLang="en-US" sz="1000" dirty="0">
                <a:latin typeface="+mj-lt"/>
              </a:rPr>
              <a:t>🗄️ </a:t>
            </a:r>
            <a:r>
              <a:rPr lang="en-US" altLang="ko-KR" sz="1000" b="1" dirty="0">
                <a:latin typeface="+mj-lt"/>
              </a:rPr>
              <a:t>SQL</a:t>
            </a:r>
            <a:endParaRPr lang="ko-KR" altLang="en-US" sz="1000" dirty="0">
              <a:latin typeface="+mj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F582710-1ED8-D5E4-8249-54DF5DC458C5}"/>
              </a:ext>
            </a:extLst>
          </p:cNvPr>
          <p:cNvSpPr txBox="1"/>
          <p:nvPr/>
        </p:nvSpPr>
        <p:spPr>
          <a:xfrm>
            <a:off x="6141554" y="2346529"/>
            <a:ext cx="520700" cy="246221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r>
              <a:rPr lang="ko-KR" altLang="en-US" sz="1000" dirty="0">
                <a:latin typeface="+mj-lt"/>
              </a:rPr>
              <a:t>📊 </a:t>
            </a:r>
            <a:r>
              <a:rPr lang="en-US" altLang="ko-KR" sz="1000" b="1" dirty="0">
                <a:latin typeface="+mj-lt"/>
              </a:rPr>
              <a:t>R</a:t>
            </a:r>
            <a:endParaRPr lang="ko-KR" altLang="en-US" sz="1000" dirty="0">
              <a:latin typeface="+mj-lt"/>
            </a:endParaRPr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652FD195-831C-5700-A3C8-0F597BDEB137}"/>
              </a:ext>
            </a:extLst>
          </p:cNvPr>
          <p:cNvGrpSpPr/>
          <p:nvPr/>
        </p:nvGrpSpPr>
        <p:grpSpPr>
          <a:xfrm>
            <a:off x="7604382" y="2346529"/>
            <a:ext cx="1252644" cy="246221"/>
            <a:chOff x="882227" y="5462945"/>
            <a:chExt cx="1252644" cy="246221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4A41AAE-8BD4-FACD-6BC2-B3217B019C73}"/>
                </a:ext>
              </a:extLst>
            </p:cNvPr>
            <p:cNvSpPr txBox="1"/>
            <p:nvPr/>
          </p:nvSpPr>
          <p:spPr>
            <a:xfrm>
              <a:off x="1445684" y="5462945"/>
              <a:ext cx="689187" cy="246221"/>
            </a:xfrm>
            <a:prstGeom prst="rect">
              <a:avLst/>
            </a:prstGeom>
            <a:noFill/>
          </p:spPr>
          <p:txBody>
            <a:bodyPr wrap="square" anchor="ctr" anchorCtr="0">
              <a:spAutoFit/>
            </a:bodyPr>
            <a:lstStyle/>
            <a:p>
              <a:r>
                <a:rPr lang="en-US" altLang="ko-KR" sz="1000" dirty="0">
                  <a:latin typeface="+mj-lt"/>
                </a:rPr>
                <a:t>☕ </a:t>
              </a:r>
              <a:r>
                <a:rPr lang="en-US" altLang="ko-KR" sz="1000" b="1" dirty="0">
                  <a:latin typeface="+mj-lt"/>
                </a:rPr>
                <a:t>Java</a:t>
              </a:r>
              <a:endParaRPr lang="ko-KR" altLang="en-US" sz="1000" dirty="0">
                <a:latin typeface="+mj-lt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228BFB8-54D5-8BA3-E2CA-6EC9B7CD4E43}"/>
                </a:ext>
              </a:extLst>
            </p:cNvPr>
            <p:cNvSpPr txBox="1"/>
            <p:nvPr/>
          </p:nvSpPr>
          <p:spPr>
            <a:xfrm>
              <a:off x="882227" y="5462945"/>
              <a:ext cx="751417" cy="246221"/>
            </a:xfrm>
            <a:prstGeom prst="rect">
              <a:avLst/>
            </a:prstGeom>
            <a:noFill/>
          </p:spPr>
          <p:txBody>
            <a:bodyPr wrap="square" anchor="ctr" anchorCtr="0">
              <a:spAutoFit/>
            </a:bodyPr>
            <a:lstStyle/>
            <a:p>
              <a:r>
                <a:rPr lang="ko-KR" altLang="en-US" sz="1000" dirty="0">
                  <a:latin typeface="+mj-lt"/>
                </a:rPr>
                <a:t>🔴 </a:t>
              </a:r>
              <a:r>
                <a:rPr lang="en-US" altLang="ko-KR" sz="1000" b="1" dirty="0">
                  <a:latin typeface="+mj-lt"/>
                </a:rPr>
                <a:t>Scala</a:t>
              </a:r>
              <a:endParaRPr lang="ko-KR" altLang="en-US" sz="1000" dirty="0">
                <a:latin typeface="+mj-lt"/>
              </a:endParaRPr>
            </a:p>
          </p:txBody>
        </p:sp>
      </p:grpSp>
      <p:sp>
        <p:nvSpPr>
          <p:cNvPr id="33" name="화살표: 아래쪽 32">
            <a:extLst>
              <a:ext uri="{FF2B5EF4-FFF2-40B4-BE49-F238E27FC236}">
                <a16:creationId xmlns:a16="http://schemas.microsoft.com/office/drawing/2014/main" id="{74729794-4F1D-D4EF-26D3-CBBBCFBC7E7E}"/>
              </a:ext>
            </a:extLst>
          </p:cNvPr>
          <p:cNvSpPr/>
          <p:nvPr/>
        </p:nvSpPr>
        <p:spPr>
          <a:xfrm>
            <a:off x="7880184" y="3071632"/>
            <a:ext cx="909320" cy="1361440"/>
          </a:xfrm>
          <a:prstGeom prst="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화살표: 아래쪽 33">
            <a:extLst>
              <a:ext uri="{FF2B5EF4-FFF2-40B4-BE49-F238E27FC236}">
                <a16:creationId xmlns:a16="http://schemas.microsoft.com/office/drawing/2014/main" id="{0E8D8985-E66C-BD56-0221-000A411C0BBF}"/>
              </a:ext>
            </a:extLst>
          </p:cNvPr>
          <p:cNvSpPr/>
          <p:nvPr/>
        </p:nvSpPr>
        <p:spPr>
          <a:xfrm>
            <a:off x="3511384" y="4153672"/>
            <a:ext cx="909320" cy="812800"/>
          </a:xfrm>
          <a:prstGeom prst="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화살표: 아래쪽 34">
            <a:extLst>
              <a:ext uri="{FF2B5EF4-FFF2-40B4-BE49-F238E27FC236}">
                <a16:creationId xmlns:a16="http://schemas.microsoft.com/office/drawing/2014/main" id="{E9E97E96-88C5-4BB5-74AA-1EC41365A67A}"/>
              </a:ext>
            </a:extLst>
          </p:cNvPr>
          <p:cNvSpPr/>
          <p:nvPr/>
        </p:nvSpPr>
        <p:spPr>
          <a:xfrm>
            <a:off x="465924" y="2665232"/>
            <a:ext cx="909320" cy="812800"/>
          </a:xfrm>
          <a:prstGeom prst="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화살표: 아래쪽 35">
            <a:extLst>
              <a:ext uri="{FF2B5EF4-FFF2-40B4-BE49-F238E27FC236}">
                <a16:creationId xmlns:a16="http://schemas.microsoft.com/office/drawing/2014/main" id="{5238C07E-AB2A-C27F-73BB-0A0E924FF4C2}"/>
              </a:ext>
            </a:extLst>
          </p:cNvPr>
          <p:cNvSpPr/>
          <p:nvPr/>
        </p:nvSpPr>
        <p:spPr>
          <a:xfrm>
            <a:off x="2289644" y="2660152"/>
            <a:ext cx="909320" cy="812800"/>
          </a:xfrm>
          <a:prstGeom prst="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화살표: 아래쪽 36">
            <a:extLst>
              <a:ext uri="{FF2B5EF4-FFF2-40B4-BE49-F238E27FC236}">
                <a16:creationId xmlns:a16="http://schemas.microsoft.com/office/drawing/2014/main" id="{93EC9D0C-9752-C3AD-D1E8-68B24CBDEAD5}"/>
              </a:ext>
            </a:extLst>
          </p:cNvPr>
          <p:cNvSpPr/>
          <p:nvPr/>
        </p:nvSpPr>
        <p:spPr>
          <a:xfrm>
            <a:off x="4149770" y="2655072"/>
            <a:ext cx="909320" cy="812800"/>
          </a:xfrm>
          <a:prstGeom prst="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화살표: 아래쪽 37">
            <a:extLst>
              <a:ext uri="{FF2B5EF4-FFF2-40B4-BE49-F238E27FC236}">
                <a16:creationId xmlns:a16="http://schemas.microsoft.com/office/drawing/2014/main" id="{ED8F45DD-1C52-EE02-9BA5-273C76C8B5E9}"/>
              </a:ext>
            </a:extLst>
          </p:cNvPr>
          <p:cNvSpPr/>
          <p:nvPr/>
        </p:nvSpPr>
        <p:spPr>
          <a:xfrm>
            <a:off x="5952324" y="2649992"/>
            <a:ext cx="909320" cy="812800"/>
          </a:xfrm>
          <a:prstGeom prst="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6D50C08A-4D7E-8AEA-FFB0-825A651312D9}"/>
              </a:ext>
            </a:extLst>
          </p:cNvPr>
          <p:cNvGrpSpPr/>
          <p:nvPr/>
        </p:nvGrpSpPr>
        <p:grpSpPr>
          <a:xfrm>
            <a:off x="97624" y="5494938"/>
            <a:ext cx="1878754" cy="246221"/>
            <a:chOff x="256117" y="5462945"/>
            <a:chExt cx="1878754" cy="24622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387B16E-3263-5A9C-8DAC-71B3DA498C87}"/>
                </a:ext>
              </a:extLst>
            </p:cNvPr>
            <p:cNvSpPr txBox="1"/>
            <p:nvPr/>
          </p:nvSpPr>
          <p:spPr>
            <a:xfrm>
              <a:off x="256117" y="5462945"/>
              <a:ext cx="971550" cy="246221"/>
            </a:xfrm>
            <a:prstGeom prst="rect">
              <a:avLst/>
            </a:prstGeom>
            <a:noFill/>
          </p:spPr>
          <p:txBody>
            <a:bodyPr wrap="square" anchor="ctr" anchorCtr="0">
              <a:spAutoFit/>
            </a:bodyPr>
            <a:lstStyle/>
            <a:p>
              <a:r>
                <a:rPr lang="ko-KR" altLang="en-US" sz="1000" dirty="0">
                  <a:latin typeface="+mj-lt"/>
                </a:rPr>
                <a:t>🐍 </a:t>
              </a:r>
              <a:r>
                <a:rPr lang="en-US" altLang="ko-KR" sz="1000" b="1" dirty="0">
                  <a:latin typeface="+mj-lt"/>
                </a:rPr>
                <a:t>Python</a:t>
              </a:r>
              <a:endParaRPr lang="ko-KR" altLang="en-US" sz="1000" dirty="0">
                <a:latin typeface="+mj-lt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72A0D24-2C00-CCF1-03CE-F7E361A5659B}"/>
                </a:ext>
              </a:extLst>
            </p:cNvPr>
            <p:cNvSpPr txBox="1"/>
            <p:nvPr/>
          </p:nvSpPr>
          <p:spPr>
            <a:xfrm>
              <a:off x="1445684" y="5462945"/>
              <a:ext cx="689187" cy="246221"/>
            </a:xfrm>
            <a:prstGeom prst="rect">
              <a:avLst/>
            </a:prstGeom>
            <a:noFill/>
          </p:spPr>
          <p:txBody>
            <a:bodyPr wrap="square" anchor="ctr" anchorCtr="0">
              <a:spAutoFit/>
            </a:bodyPr>
            <a:lstStyle/>
            <a:p>
              <a:r>
                <a:rPr lang="en-US" altLang="ko-KR" sz="1000" dirty="0">
                  <a:latin typeface="+mj-lt"/>
                </a:rPr>
                <a:t>☕ </a:t>
              </a:r>
              <a:r>
                <a:rPr lang="en-US" altLang="ko-KR" sz="1000" b="1" dirty="0">
                  <a:latin typeface="+mj-lt"/>
                </a:rPr>
                <a:t>Java</a:t>
              </a:r>
              <a:endParaRPr lang="ko-KR" altLang="en-US" sz="1000" dirty="0">
                <a:latin typeface="+mj-lt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01C51770-4EF7-0508-6BCE-E002C1A11E08}"/>
                </a:ext>
              </a:extLst>
            </p:cNvPr>
            <p:cNvSpPr txBox="1"/>
            <p:nvPr/>
          </p:nvSpPr>
          <p:spPr>
            <a:xfrm>
              <a:off x="882227" y="5462945"/>
              <a:ext cx="751417" cy="246221"/>
            </a:xfrm>
            <a:prstGeom prst="rect">
              <a:avLst/>
            </a:prstGeom>
            <a:noFill/>
          </p:spPr>
          <p:txBody>
            <a:bodyPr wrap="square" anchor="ctr" anchorCtr="0">
              <a:spAutoFit/>
            </a:bodyPr>
            <a:lstStyle/>
            <a:p>
              <a:r>
                <a:rPr lang="ko-KR" altLang="en-US" sz="1000" dirty="0">
                  <a:latin typeface="+mj-lt"/>
                </a:rPr>
                <a:t>🔴 </a:t>
              </a:r>
              <a:r>
                <a:rPr lang="en-US" altLang="ko-KR" sz="1000" b="1" dirty="0">
                  <a:latin typeface="+mj-lt"/>
                </a:rPr>
                <a:t>Scala</a:t>
              </a:r>
              <a:endParaRPr lang="ko-KR" altLang="en-US" sz="1000" dirty="0">
                <a:latin typeface="+mj-lt"/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D5FFA407-3C92-5FF5-6D3F-8E825B49196E}"/>
              </a:ext>
            </a:extLst>
          </p:cNvPr>
          <p:cNvGrpSpPr/>
          <p:nvPr/>
        </p:nvGrpSpPr>
        <p:grpSpPr>
          <a:xfrm>
            <a:off x="162817" y="4031898"/>
            <a:ext cx="1878754" cy="246221"/>
            <a:chOff x="256117" y="5462945"/>
            <a:chExt cx="1878754" cy="246221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3EF5620-1659-0CAC-4AD8-00CA3B1F0669}"/>
                </a:ext>
              </a:extLst>
            </p:cNvPr>
            <p:cNvSpPr txBox="1"/>
            <p:nvPr/>
          </p:nvSpPr>
          <p:spPr>
            <a:xfrm>
              <a:off x="256117" y="5462945"/>
              <a:ext cx="971550" cy="246221"/>
            </a:xfrm>
            <a:prstGeom prst="rect">
              <a:avLst/>
            </a:prstGeom>
            <a:noFill/>
          </p:spPr>
          <p:txBody>
            <a:bodyPr wrap="square" anchor="ctr" anchorCtr="0">
              <a:spAutoFit/>
            </a:bodyPr>
            <a:lstStyle/>
            <a:p>
              <a:r>
                <a:rPr lang="ko-KR" altLang="en-US" sz="1000" dirty="0">
                  <a:latin typeface="+mj-lt"/>
                </a:rPr>
                <a:t>🐍 </a:t>
              </a:r>
              <a:r>
                <a:rPr lang="en-US" altLang="ko-KR" sz="1000" b="1" dirty="0">
                  <a:latin typeface="+mj-lt"/>
                </a:rPr>
                <a:t>Python</a:t>
              </a:r>
              <a:endParaRPr lang="ko-KR" altLang="en-US" sz="1000" dirty="0">
                <a:latin typeface="+mj-lt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F0EAEBCB-1E0C-CA11-5766-50B402204949}"/>
                </a:ext>
              </a:extLst>
            </p:cNvPr>
            <p:cNvSpPr txBox="1"/>
            <p:nvPr/>
          </p:nvSpPr>
          <p:spPr>
            <a:xfrm>
              <a:off x="1445684" y="5462945"/>
              <a:ext cx="689187" cy="246221"/>
            </a:xfrm>
            <a:prstGeom prst="rect">
              <a:avLst/>
            </a:prstGeom>
            <a:noFill/>
          </p:spPr>
          <p:txBody>
            <a:bodyPr wrap="square" anchor="ctr" anchorCtr="0">
              <a:spAutoFit/>
            </a:bodyPr>
            <a:lstStyle/>
            <a:p>
              <a:r>
                <a:rPr lang="en-US" altLang="ko-KR" sz="1000" dirty="0">
                  <a:latin typeface="+mj-lt"/>
                </a:rPr>
                <a:t>☕ </a:t>
              </a:r>
              <a:r>
                <a:rPr lang="en-US" altLang="ko-KR" sz="1000" b="1" dirty="0">
                  <a:latin typeface="+mj-lt"/>
                </a:rPr>
                <a:t>Java</a:t>
              </a:r>
              <a:endParaRPr lang="ko-KR" altLang="en-US" sz="1000" dirty="0">
                <a:latin typeface="+mj-lt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11A813CB-475E-B537-DE74-D695615592A0}"/>
                </a:ext>
              </a:extLst>
            </p:cNvPr>
            <p:cNvSpPr txBox="1"/>
            <p:nvPr/>
          </p:nvSpPr>
          <p:spPr>
            <a:xfrm>
              <a:off x="882227" y="5462945"/>
              <a:ext cx="751417" cy="246221"/>
            </a:xfrm>
            <a:prstGeom prst="rect">
              <a:avLst/>
            </a:prstGeom>
            <a:noFill/>
          </p:spPr>
          <p:txBody>
            <a:bodyPr wrap="square" anchor="ctr" anchorCtr="0">
              <a:spAutoFit/>
            </a:bodyPr>
            <a:lstStyle/>
            <a:p>
              <a:r>
                <a:rPr lang="ko-KR" altLang="en-US" sz="1000" dirty="0">
                  <a:latin typeface="+mj-lt"/>
                </a:rPr>
                <a:t>🔴 </a:t>
              </a:r>
              <a:r>
                <a:rPr lang="en-US" altLang="ko-KR" sz="1000" b="1" dirty="0">
                  <a:latin typeface="+mj-lt"/>
                </a:rPr>
                <a:t>Scala</a:t>
              </a:r>
              <a:endParaRPr lang="ko-KR" altLang="en-US" sz="1000" dirty="0">
                <a:latin typeface="+mj-lt"/>
              </a:endParaRPr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FED8AF91-4A3D-6014-B8F4-CF148CC47E4B}"/>
              </a:ext>
            </a:extLst>
          </p:cNvPr>
          <p:cNvGrpSpPr/>
          <p:nvPr/>
        </p:nvGrpSpPr>
        <p:grpSpPr>
          <a:xfrm>
            <a:off x="-34033" y="2346529"/>
            <a:ext cx="1878754" cy="246221"/>
            <a:chOff x="256117" y="5462945"/>
            <a:chExt cx="1878754" cy="246221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097D2769-2DB4-0EBA-0F92-5337C2F41D36}"/>
                </a:ext>
              </a:extLst>
            </p:cNvPr>
            <p:cNvSpPr txBox="1"/>
            <p:nvPr/>
          </p:nvSpPr>
          <p:spPr>
            <a:xfrm>
              <a:off x="256117" y="5462945"/>
              <a:ext cx="971550" cy="246221"/>
            </a:xfrm>
            <a:prstGeom prst="rect">
              <a:avLst/>
            </a:prstGeom>
            <a:noFill/>
          </p:spPr>
          <p:txBody>
            <a:bodyPr wrap="square" anchor="ctr" anchorCtr="0">
              <a:spAutoFit/>
            </a:bodyPr>
            <a:lstStyle/>
            <a:p>
              <a:r>
                <a:rPr lang="ko-KR" altLang="en-US" sz="1000" dirty="0">
                  <a:latin typeface="+mj-lt"/>
                </a:rPr>
                <a:t>🐍 </a:t>
              </a:r>
              <a:r>
                <a:rPr lang="en-US" altLang="ko-KR" sz="1000" b="1" dirty="0">
                  <a:latin typeface="+mj-lt"/>
                </a:rPr>
                <a:t>Python</a:t>
              </a:r>
              <a:endParaRPr lang="ko-KR" altLang="en-US" sz="1000" dirty="0">
                <a:latin typeface="+mj-lt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A7B35D2-8C60-EA61-6958-EE5BE6AAA2B8}"/>
                </a:ext>
              </a:extLst>
            </p:cNvPr>
            <p:cNvSpPr txBox="1"/>
            <p:nvPr/>
          </p:nvSpPr>
          <p:spPr>
            <a:xfrm>
              <a:off x="1445684" y="5462945"/>
              <a:ext cx="689187" cy="246221"/>
            </a:xfrm>
            <a:prstGeom prst="rect">
              <a:avLst/>
            </a:prstGeom>
            <a:noFill/>
          </p:spPr>
          <p:txBody>
            <a:bodyPr wrap="square" anchor="ctr" anchorCtr="0">
              <a:spAutoFit/>
            </a:bodyPr>
            <a:lstStyle/>
            <a:p>
              <a:r>
                <a:rPr lang="en-US" altLang="ko-KR" sz="1000" dirty="0">
                  <a:latin typeface="+mj-lt"/>
                </a:rPr>
                <a:t>☕ </a:t>
              </a:r>
              <a:r>
                <a:rPr lang="en-US" altLang="ko-KR" sz="1000" b="1" dirty="0">
                  <a:latin typeface="+mj-lt"/>
                </a:rPr>
                <a:t>Java</a:t>
              </a:r>
              <a:endParaRPr lang="ko-KR" altLang="en-US" sz="1000" dirty="0">
                <a:latin typeface="+mj-lt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CD97E0C-F0F1-A6A0-4B9B-1EC38403859F}"/>
                </a:ext>
              </a:extLst>
            </p:cNvPr>
            <p:cNvSpPr txBox="1"/>
            <p:nvPr/>
          </p:nvSpPr>
          <p:spPr>
            <a:xfrm>
              <a:off x="882227" y="5462945"/>
              <a:ext cx="751417" cy="246221"/>
            </a:xfrm>
            <a:prstGeom prst="rect">
              <a:avLst/>
            </a:prstGeom>
            <a:noFill/>
          </p:spPr>
          <p:txBody>
            <a:bodyPr wrap="square" anchor="ctr" anchorCtr="0">
              <a:spAutoFit/>
            </a:bodyPr>
            <a:lstStyle/>
            <a:p>
              <a:r>
                <a:rPr lang="ko-KR" altLang="en-US" sz="1000" dirty="0">
                  <a:latin typeface="+mj-lt"/>
                </a:rPr>
                <a:t>🔴 </a:t>
              </a:r>
              <a:r>
                <a:rPr lang="en-US" altLang="ko-KR" sz="1000" b="1" dirty="0">
                  <a:latin typeface="+mj-lt"/>
                </a:rPr>
                <a:t>Scala</a:t>
              </a:r>
              <a:endParaRPr lang="ko-KR" altLang="en-US" sz="1000" dirty="0">
                <a:latin typeface="+mj-lt"/>
              </a:endParaRPr>
            </a:p>
          </p:txBody>
        </p: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79783D29-93FB-78A9-CBC7-48EE6BC648BB}"/>
              </a:ext>
            </a:extLst>
          </p:cNvPr>
          <p:cNvGrpSpPr/>
          <p:nvPr/>
        </p:nvGrpSpPr>
        <p:grpSpPr>
          <a:xfrm>
            <a:off x="1804927" y="2345338"/>
            <a:ext cx="1878754" cy="246221"/>
            <a:chOff x="256117" y="5462945"/>
            <a:chExt cx="1878754" cy="246221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9ABD19D-A26C-E3BA-66CF-028BEA445ED8}"/>
                </a:ext>
              </a:extLst>
            </p:cNvPr>
            <p:cNvSpPr txBox="1"/>
            <p:nvPr/>
          </p:nvSpPr>
          <p:spPr>
            <a:xfrm>
              <a:off x="256117" y="5462945"/>
              <a:ext cx="971550" cy="246221"/>
            </a:xfrm>
            <a:prstGeom prst="rect">
              <a:avLst/>
            </a:prstGeom>
            <a:noFill/>
          </p:spPr>
          <p:txBody>
            <a:bodyPr wrap="square" anchor="ctr" anchorCtr="0">
              <a:spAutoFit/>
            </a:bodyPr>
            <a:lstStyle/>
            <a:p>
              <a:r>
                <a:rPr lang="ko-KR" altLang="en-US" sz="1000" dirty="0">
                  <a:latin typeface="+mj-lt"/>
                </a:rPr>
                <a:t>🐍 </a:t>
              </a:r>
              <a:r>
                <a:rPr lang="en-US" altLang="ko-KR" sz="1000" b="1" dirty="0">
                  <a:latin typeface="+mj-lt"/>
                </a:rPr>
                <a:t>Python</a:t>
              </a:r>
              <a:endParaRPr lang="ko-KR" altLang="en-US" sz="1000" dirty="0">
                <a:latin typeface="+mj-lt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D20CDB02-6594-CC12-4520-1341D174F23C}"/>
                </a:ext>
              </a:extLst>
            </p:cNvPr>
            <p:cNvSpPr txBox="1"/>
            <p:nvPr/>
          </p:nvSpPr>
          <p:spPr>
            <a:xfrm>
              <a:off x="1445684" y="5462945"/>
              <a:ext cx="689187" cy="246221"/>
            </a:xfrm>
            <a:prstGeom prst="rect">
              <a:avLst/>
            </a:prstGeom>
            <a:noFill/>
          </p:spPr>
          <p:txBody>
            <a:bodyPr wrap="square" anchor="ctr" anchorCtr="0">
              <a:spAutoFit/>
            </a:bodyPr>
            <a:lstStyle/>
            <a:p>
              <a:r>
                <a:rPr lang="en-US" altLang="ko-KR" sz="1000" dirty="0">
                  <a:latin typeface="+mj-lt"/>
                </a:rPr>
                <a:t>☕ </a:t>
              </a:r>
              <a:r>
                <a:rPr lang="en-US" altLang="ko-KR" sz="1000" b="1" dirty="0">
                  <a:latin typeface="+mj-lt"/>
                </a:rPr>
                <a:t>Java</a:t>
              </a:r>
              <a:endParaRPr lang="ko-KR" altLang="en-US" sz="1000" dirty="0">
                <a:latin typeface="+mj-lt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B930A10-182C-735E-92BD-C8D33BF8BD4D}"/>
                </a:ext>
              </a:extLst>
            </p:cNvPr>
            <p:cNvSpPr txBox="1"/>
            <p:nvPr/>
          </p:nvSpPr>
          <p:spPr>
            <a:xfrm>
              <a:off x="882227" y="5462945"/>
              <a:ext cx="751417" cy="246221"/>
            </a:xfrm>
            <a:prstGeom prst="rect">
              <a:avLst/>
            </a:prstGeom>
            <a:noFill/>
          </p:spPr>
          <p:txBody>
            <a:bodyPr wrap="square" anchor="ctr" anchorCtr="0">
              <a:spAutoFit/>
            </a:bodyPr>
            <a:lstStyle/>
            <a:p>
              <a:r>
                <a:rPr lang="ko-KR" altLang="en-US" sz="1000" dirty="0">
                  <a:latin typeface="+mj-lt"/>
                </a:rPr>
                <a:t>🔴 </a:t>
              </a:r>
              <a:r>
                <a:rPr lang="en-US" altLang="ko-KR" sz="1000" b="1" dirty="0">
                  <a:latin typeface="+mj-lt"/>
                </a:rPr>
                <a:t>Scala</a:t>
              </a:r>
              <a:endParaRPr lang="ko-KR" altLang="en-US" sz="1000" dirty="0">
                <a:latin typeface="+mj-lt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82</Words>
  <Application>Microsoft Office PowerPoint</Application>
  <PresentationFormat>화면 슬라이드 쇼(4:3)</PresentationFormat>
  <Paragraphs>29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Calibri (본문)</vt:lpstr>
      <vt:lpstr>Arial</vt:lpstr>
      <vt:lpstr>Calibri</vt:lpstr>
      <vt:lpstr>Office Theme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Ji Yong Seong</dc:creator>
  <cp:keywords/>
  <dc:description>generated using python-pptx</dc:description>
  <cp:lastModifiedBy>Ji Yong Seong</cp:lastModifiedBy>
  <cp:revision>4</cp:revision>
  <dcterms:created xsi:type="dcterms:W3CDTF">2013-01-27T09:14:16Z</dcterms:created>
  <dcterms:modified xsi:type="dcterms:W3CDTF">2026-01-16T01:03:30Z</dcterms:modified>
  <cp:category/>
</cp:coreProperties>
</file>